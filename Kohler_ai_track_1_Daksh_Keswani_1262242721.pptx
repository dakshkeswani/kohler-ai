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Aesthetic Match (50%)</c:v>
                </c:pt>
              </c:strCache>
            </c:strRef>
          </c:tx>
          <c:spPr>
            <a:solidFill>
              <a:srgbClr val="C8A97E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E1013"/>
                    </a:solidFill>
                    <a:latin typeface="Courier New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Score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75-4A59-8AB9-C15135172F2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PVD Finish Cohesion (30%)</c:v>
                </c:pt>
              </c:strCache>
            </c:strRef>
          </c:tx>
          <c:spPr>
            <a:solidFill>
              <a:srgbClr val="A98F68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E1013"/>
                    </a:solidFill>
                    <a:latin typeface="Courier New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Score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E75-4A59-8AB9-C15135172F2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Budget Efficiency (20%)</c:v>
                </c:pt>
              </c:strCache>
            </c:strRef>
          </c:tx>
          <c:spPr>
            <a:solidFill>
              <a:srgbClr val="8B7654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E1013"/>
                    </a:solidFill>
                    <a:latin typeface="Courier New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Score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E75-4A59-8AB9-C15135172F2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A0A5B5"/>
              </a:solidFill>
              <a:latin typeface="Courier New"/>
              <a:cs typeface="Courier New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209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46304" cy="0"/>
          </a:xfrm>
          <a:prstGeom prst="line">
            <a:avLst/>
          </a:prstGeom>
          <a:noFill/>
          <a:ln w="12700">
            <a:solidFill>
              <a:srgbClr val="C8A9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0" cy="146304"/>
          </a:xfrm>
          <a:prstGeom prst="line">
            <a:avLst/>
          </a:prstGeom>
          <a:noFill/>
          <a:ln w="12700">
            <a:solidFill>
              <a:srgbClr val="C8A9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89359" y="256032"/>
            <a:ext cx="146304" cy="0"/>
          </a:xfrm>
          <a:prstGeom prst="line">
            <a:avLst/>
          </a:prstGeom>
          <a:noFill/>
          <a:ln w="12700">
            <a:solidFill>
              <a:srgbClr val="C8A9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35663" y="256032"/>
            <a:ext cx="0" cy="146304"/>
          </a:xfrm>
          <a:prstGeom prst="line">
            <a:avLst/>
          </a:prstGeom>
          <a:noFill/>
          <a:ln w="12700">
            <a:solidFill>
              <a:srgbClr val="C8A97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6601968"/>
            <a:ext cx="146304" cy="0"/>
          </a:xfrm>
          <a:prstGeom prst="line">
            <a:avLst/>
          </a:prstGeom>
          <a:noFill/>
          <a:ln w="12700">
            <a:solidFill>
              <a:srgbClr val="C8A9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6455664"/>
            <a:ext cx="0" cy="146304"/>
          </a:xfrm>
          <a:prstGeom prst="line">
            <a:avLst/>
          </a:prstGeom>
          <a:noFill/>
          <a:ln w="12700">
            <a:solidFill>
              <a:srgbClr val="C8A9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89359" y="6601968"/>
            <a:ext cx="146304" cy="0"/>
          </a:xfrm>
          <a:prstGeom prst="line">
            <a:avLst/>
          </a:prstGeom>
          <a:noFill/>
          <a:ln w="12700">
            <a:solidFill>
              <a:srgbClr val="C8A9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35663" y="6455664"/>
            <a:ext cx="0" cy="146304"/>
          </a:xfrm>
          <a:prstGeom prst="line">
            <a:avLst/>
          </a:prstGeom>
          <a:noFill/>
          <a:ln w="12700">
            <a:solidFill>
              <a:srgbClr val="C8A9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C8A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ATELIER INTELLIGENT</a:t>
            </a:r>
            <a:r>
              <a:rPr lang="en-US" sz="1000" kern="0" spc="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18001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694944"/>
            <a:ext cx="11094415" cy="0"/>
          </a:xfrm>
          <a:prstGeom prst="line">
            <a:avLst/>
          </a:prstGeom>
          <a:noFill/>
          <a:ln w="9525">
            <a:solidFill>
              <a:srgbClr val="5C52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1097280"/>
            <a:ext cx="3246120" cy="347472"/>
          </a:xfrm>
          <a:prstGeom prst="rect">
            <a:avLst/>
          </a:prstGeom>
          <a:ln w="12700">
            <a:solidFill>
              <a:srgbClr val="C8A9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09728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kern="0" spc="50" dirty="0">
                <a:solidFill>
                  <a:srgbClr val="C8A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COMBINATORIAL CONSTRAINT ENGINE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931920" y="1097280"/>
            <a:ext cx="1554480" cy="347472"/>
          </a:xfrm>
          <a:prstGeom prst="rect">
            <a:avLst/>
          </a:prstGeom>
          <a:ln w="12700">
            <a:solidFill>
              <a:srgbClr val="C8A9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10972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kern="0" spc="50" dirty="0">
                <a:solidFill>
                  <a:srgbClr val="C8A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VASTU ROUTING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36192"/>
            <a:ext cx="2331720" cy="347472"/>
          </a:xfrm>
          <a:prstGeom prst="rect">
            <a:avLst/>
          </a:prstGeom>
          <a:ln w="12700">
            <a:solidFill>
              <a:srgbClr val="C8A9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153619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kern="0" spc="50" dirty="0">
                <a:solidFill>
                  <a:srgbClr val="C8A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 WALLET SHARE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2148840"/>
            <a:ext cx="6492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Intelligent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548640" y="2999232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C8A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Bathroom Planner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48640" y="3611880"/>
            <a:ext cx="64922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A0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custom Python engine that bypasses LLM hallucinations entirely. It applies strict mathematics — not language-model guesswork — to filter millions of Kohler product combinations against budget limits and ADA-compliant physical floor space, keeping fixture occupancy under 40% of the room envelope.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543800" y="1188720"/>
            <a:ext cx="118872" cy="0"/>
          </a:xfrm>
          <a:prstGeom prst="line">
            <a:avLst/>
          </a:prstGeom>
          <a:noFill/>
          <a:ln w="9525">
            <a:solidFill>
              <a:srgbClr val="C8A97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43800" y="1188720"/>
            <a:ext cx="0" cy="118872"/>
          </a:xfrm>
          <a:prstGeom prst="line">
            <a:avLst/>
          </a:prstGeom>
          <a:noFill/>
          <a:ln w="9525">
            <a:solidFill>
              <a:srgbClr val="C8A97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32743" y="1188720"/>
            <a:ext cx="118872" cy="0"/>
          </a:xfrm>
          <a:prstGeom prst="line">
            <a:avLst/>
          </a:prstGeom>
          <a:noFill/>
          <a:ln w="9525">
            <a:solidFill>
              <a:srgbClr val="C8A97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551615" y="1188720"/>
            <a:ext cx="0" cy="118872"/>
          </a:xfrm>
          <a:prstGeom prst="line">
            <a:avLst/>
          </a:prstGeom>
          <a:noFill/>
          <a:ln w="9525">
            <a:solidFill>
              <a:srgbClr val="C8A97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43800" y="5897880"/>
            <a:ext cx="118872" cy="0"/>
          </a:xfrm>
          <a:prstGeom prst="line">
            <a:avLst/>
          </a:prstGeom>
          <a:noFill/>
          <a:ln w="9525">
            <a:solidFill>
              <a:srgbClr val="C8A97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43800" y="5779008"/>
            <a:ext cx="0" cy="118872"/>
          </a:xfrm>
          <a:prstGeom prst="line">
            <a:avLst/>
          </a:prstGeom>
          <a:noFill/>
          <a:ln w="9525">
            <a:solidFill>
              <a:srgbClr val="C8A97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32743" y="5897880"/>
            <a:ext cx="118872" cy="0"/>
          </a:xfrm>
          <a:prstGeom prst="line">
            <a:avLst/>
          </a:prstGeom>
          <a:noFill/>
          <a:ln w="9525">
            <a:solidFill>
              <a:srgbClr val="C8A97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551615" y="5779008"/>
            <a:ext cx="0" cy="118872"/>
          </a:xfrm>
          <a:prstGeom prst="line">
            <a:avLst/>
          </a:prstGeom>
          <a:noFill/>
          <a:ln w="9525">
            <a:solidFill>
              <a:srgbClr val="C8A97E"/>
            </a:solidFill>
            <a:prstDash val="solid"/>
          </a:ln>
        </p:spPr>
      </p:sp>
      <p:pic>
        <p:nvPicPr>
          <p:cNvPr id="31" name="Image 0" descr="/home/claude/assets/icon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4244" y="3040380"/>
            <a:ext cx="566928" cy="56692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7909560" y="3680460"/>
            <a:ext cx="327629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kern="0" spc="50" dirty="0">
                <a:solidFill>
                  <a:srgbClr val="A0A5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Insert Screenshot 1:</a:t>
            </a:r>
            <a:endParaRPr lang="en-US" sz="10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kern="0" spc="50" dirty="0">
                <a:solidFill>
                  <a:srgbClr val="A0A5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App Hero / Sidebar ]</a:t>
            </a:r>
            <a:endParaRPr lang="en-US" sz="10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ECE5EB1-B24C-3449-DA42-B103F0AE4F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99255" t="4510" r="186113" b="755"/>
          <a:stretch>
            <a:fillRect/>
          </a:stretch>
        </p:blipFill>
        <p:spPr>
          <a:xfrm>
            <a:off x="1424883" y="1460616"/>
            <a:ext cx="935946" cy="4892040"/>
          </a:xfrm>
          <a:prstGeom prst="rect">
            <a:avLst/>
          </a:prstGeom>
        </p:spPr>
      </p:pic>
      <p:sp>
        <p:nvSpPr>
          <p:cNvPr id="43" name="Shape 23">
            <a:extLst>
              <a:ext uri="{FF2B5EF4-FFF2-40B4-BE49-F238E27FC236}">
                <a16:creationId xmlns:a16="http://schemas.microsoft.com/office/drawing/2014/main" id="{4AB1EF42-C9C1-F7C8-972A-02D479F37112}"/>
              </a:ext>
            </a:extLst>
          </p:cNvPr>
          <p:cNvSpPr/>
          <p:nvPr/>
        </p:nvSpPr>
        <p:spPr>
          <a:xfrm>
            <a:off x="7415784" y="1088135"/>
            <a:ext cx="4373575" cy="4892031"/>
          </a:xfrm>
          <a:prstGeom prst="rect">
            <a:avLst/>
          </a:prstGeom>
          <a:solidFill>
            <a:srgbClr val="181C23"/>
          </a:solidFill>
          <a:ln w="12700">
            <a:solidFill>
              <a:srgbClr val="C8A97E"/>
            </a:solidFill>
            <a:prstDash val="dash"/>
          </a:ln>
        </p:spPr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57A63721-D8D6-024D-5914-871C790FBB3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1511"/>
          <a:stretch>
            <a:fillRect/>
          </a:stretch>
        </p:blipFill>
        <p:spPr>
          <a:xfrm>
            <a:off x="7429876" y="1143398"/>
            <a:ext cx="4359484" cy="48367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46304" cy="0"/>
          </a:xfrm>
          <a:prstGeom prst="line">
            <a:avLst/>
          </a:prstGeom>
          <a:noFill/>
          <a:ln w="12700">
            <a:solidFill>
              <a:srgbClr val="C8A9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0" cy="146304"/>
          </a:xfrm>
          <a:prstGeom prst="line">
            <a:avLst/>
          </a:prstGeom>
          <a:noFill/>
          <a:ln w="12700">
            <a:solidFill>
              <a:srgbClr val="C8A9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89359" y="256032"/>
            <a:ext cx="146304" cy="0"/>
          </a:xfrm>
          <a:prstGeom prst="line">
            <a:avLst/>
          </a:prstGeom>
          <a:noFill/>
          <a:ln w="12700">
            <a:solidFill>
              <a:srgbClr val="C8A9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35663" y="256032"/>
            <a:ext cx="0" cy="146304"/>
          </a:xfrm>
          <a:prstGeom prst="line">
            <a:avLst/>
          </a:prstGeom>
          <a:noFill/>
          <a:ln w="12700">
            <a:solidFill>
              <a:srgbClr val="C8A97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6601968"/>
            <a:ext cx="146304" cy="0"/>
          </a:xfrm>
          <a:prstGeom prst="line">
            <a:avLst/>
          </a:prstGeom>
          <a:noFill/>
          <a:ln w="12700">
            <a:solidFill>
              <a:srgbClr val="C8A9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6455664"/>
            <a:ext cx="0" cy="146304"/>
          </a:xfrm>
          <a:prstGeom prst="line">
            <a:avLst/>
          </a:prstGeom>
          <a:noFill/>
          <a:ln w="12700">
            <a:solidFill>
              <a:srgbClr val="C8A9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89359" y="6601968"/>
            <a:ext cx="146304" cy="0"/>
          </a:xfrm>
          <a:prstGeom prst="line">
            <a:avLst/>
          </a:prstGeom>
          <a:noFill/>
          <a:ln w="12700">
            <a:solidFill>
              <a:srgbClr val="C8A9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35663" y="6455664"/>
            <a:ext cx="0" cy="146304"/>
          </a:xfrm>
          <a:prstGeom prst="line">
            <a:avLst/>
          </a:prstGeom>
          <a:noFill/>
          <a:ln w="12700">
            <a:solidFill>
              <a:srgbClr val="C8A9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C8A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ATELIER INTELLIGENT</a:t>
            </a:r>
            <a:r>
              <a:rPr lang="en-US" sz="1000" kern="0" spc="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18001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694944"/>
            <a:ext cx="11094415" cy="0"/>
          </a:xfrm>
          <a:prstGeom prst="line">
            <a:avLst/>
          </a:prstGeom>
          <a:noFill/>
          <a:ln w="9525">
            <a:solidFill>
              <a:srgbClr val="5C52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914400"/>
            <a:ext cx="457200" cy="41148"/>
          </a:xfrm>
          <a:prstGeom prst="rect">
            <a:avLst/>
          </a:prstGeom>
          <a:solidFill>
            <a:srgbClr val="C8A97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042416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40080" y="1965960"/>
            <a:ext cx="3291840" cy="4251960"/>
          </a:xfrm>
          <a:prstGeom prst="rect">
            <a:avLst/>
          </a:prstGeom>
          <a:solidFill>
            <a:srgbClr val="181C23"/>
          </a:solidFill>
          <a:ln w="12700">
            <a:solidFill>
              <a:srgbClr val="5C52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2240280"/>
            <a:ext cx="512064" cy="512064"/>
          </a:xfrm>
          <a:prstGeom prst="rect">
            <a:avLst/>
          </a:prstGeom>
          <a:solidFill>
            <a:srgbClr val="1E232C"/>
          </a:solidFill>
          <a:ln w="12700">
            <a:solidFill>
              <a:srgbClr val="5C523D"/>
            </a:solidFill>
            <a:prstDash val="solid"/>
          </a:ln>
        </p:spPr>
      </p:sp>
      <p:pic>
        <p:nvPicPr>
          <p:cNvPr id="17" name="Image 0" descr="/home/claude/assets/icons/com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295" y="2363175"/>
            <a:ext cx="266273" cy="266273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14400" y="28803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C8A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PILLAR 01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914400" y="311810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Layer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14400" y="3749040"/>
            <a:ext cx="27432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–"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Dimensions</a:t>
            </a:r>
            <a:r>
              <a:rPr lang="en-US" sz="1050" dirty="0">
                <a:solidFill>
                  <a:srgbClr val="A0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floor plan boundaries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–"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Envelope</a:t>
            </a:r>
            <a:r>
              <a:rPr lang="en-US" sz="1050" dirty="0">
                <a:solidFill>
                  <a:srgbClr val="A0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total spend ceiling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–"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Aesthetic Palette</a:t>
            </a:r>
            <a:r>
              <a:rPr lang="en-US" sz="1050" dirty="0">
                <a:solidFill>
                  <a:srgbClr val="A0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finish &amp; style intent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–"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Vastu Entrance Direction</a:t>
            </a:r>
            <a:r>
              <a:rPr lang="en-US" sz="1050" dirty="0">
                <a:solidFill>
                  <a:srgbClr val="A0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orientation input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434840" y="1965960"/>
            <a:ext cx="3291840" cy="4251960"/>
          </a:xfrm>
          <a:prstGeom prst="rect">
            <a:avLst/>
          </a:prstGeom>
          <a:solidFill>
            <a:srgbClr val="181C23"/>
          </a:solidFill>
          <a:ln w="12700">
            <a:solidFill>
              <a:srgbClr val="5C523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09160" y="2240280"/>
            <a:ext cx="512064" cy="512064"/>
          </a:xfrm>
          <a:prstGeom prst="rect">
            <a:avLst/>
          </a:prstGeom>
          <a:solidFill>
            <a:srgbClr val="1E232C"/>
          </a:solidFill>
          <a:ln w="12700">
            <a:solidFill>
              <a:srgbClr val="5C523D"/>
            </a:solidFill>
            <a:prstDash val="solid"/>
          </a:ln>
        </p:spPr>
      </p:sp>
      <p:pic>
        <p:nvPicPr>
          <p:cNvPr id="23" name="Image 1" descr="/home/claude/assets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055" y="2363175"/>
            <a:ext cx="266273" cy="266273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709160" y="28803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C8A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PILLAR 02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4709160" y="311810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Engine — Python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4709160" y="3749040"/>
            <a:ext cx="27432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–"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Knapsack Solver</a:t>
            </a:r>
            <a:r>
              <a:rPr lang="en-US" sz="1050" dirty="0">
                <a:solidFill>
                  <a:srgbClr val="A0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evaluates 5-item arrays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–"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AABB Collision Detection</a:t>
            </a:r>
            <a:r>
              <a:rPr lang="en-US" sz="1050" dirty="0">
                <a:solidFill>
                  <a:srgbClr val="A0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scans 2D grid matrix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–"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Vastu Spatial Router</a:t>
            </a:r>
            <a:r>
              <a:rPr lang="en-US" sz="1050" dirty="0">
                <a:solidFill>
                  <a:srgbClr val="A0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orientation-aware placement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8229600" y="1965960"/>
            <a:ext cx="3291840" cy="4251960"/>
          </a:xfrm>
          <a:prstGeom prst="rect">
            <a:avLst/>
          </a:prstGeom>
          <a:solidFill>
            <a:srgbClr val="181C23"/>
          </a:solidFill>
          <a:ln w="12700">
            <a:solidFill>
              <a:srgbClr val="5C523D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503920" y="2240280"/>
            <a:ext cx="512064" cy="512064"/>
          </a:xfrm>
          <a:prstGeom prst="rect">
            <a:avLst/>
          </a:prstGeom>
          <a:solidFill>
            <a:srgbClr val="1E232C"/>
          </a:solidFill>
          <a:ln w="12700">
            <a:solidFill>
              <a:srgbClr val="5C523D"/>
            </a:solidFill>
            <a:prstDash val="solid"/>
          </a:ln>
        </p:spPr>
      </p:sp>
      <p:pic>
        <p:nvPicPr>
          <p:cNvPr id="29" name="Image 2" descr="/home/claude/assets/icons/moni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6815" y="2363175"/>
            <a:ext cx="266273" cy="266273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503920" y="28803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C8A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PILLAR 03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8503920" y="311810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UI — Streamlit</a:t>
            </a:r>
            <a:endParaRPr lang="en-US" sz="1500" dirty="0"/>
          </a:p>
        </p:txBody>
      </p:sp>
      <p:sp>
        <p:nvSpPr>
          <p:cNvPr id="32" name="Text 27"/>
          <p:cNvSpPr/>
          <p:nvPr/>
        </p:nvSpPr>
        <p:spPr>
          <a:xfrm>
            <a:off x="8503920" y="3749040"/>
            <a:ext cx="27432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–"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 CAD Generator</a:t>
            </a:r>
            <a:r>
              <a:rPr lang="en-US" sz="1050" dirty="0">
                <a:solidFill>
                  <a:srgbClr val="A0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to-scale floor drawing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–"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Rendering</a:t>
            </a:r>
            <a:r>
              <a:rPr lang="en-US" sz="1050" dirty="0">
                <a:solidFill>
                  <a:srgbClr val="A0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live layout updates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–"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3-Step Showroom Checkout</a:t>
            </a:r>
            <a:r>
              <a:rPr lang="en-US" sz="1050" dirty="0">
                <a:solidFill>
                  <a:srgbClr val="A0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guided purchase flow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3931920" y="3945636"/>
            <a:ext cx="502920" cy="292608"/>
          </a:xfrm>
          <a:prstGeom prst="chevron">
            <a:avLst/>
          </a:prstGeom>
          <a:solidFill>
            <a:srgbClr val="C8A97E"/>
          </a:solidFill>
          <a:ln/>
        </p:spPr>
      </p:sp>
      <p:sp>
        <p:nvSpPr>
          <p:cNvPr id="34" name="Shape 29"/>
          <p:cNvSpPr/>
          <p:nvPr/>
        </p:nvSpPr>
        <p:spPr>
          <a:xfrm>
            <a:off x="7726680" y="3945636"/>
            <a:ext cx="502920" cy="292608"/>
          </a:xfrm>
          <a:prstGeom prst="chevron">
            <a:avLst/>
          </a:prstGeom>
          <a:solidFill>
            <a:srgbClr val="C8A97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46304" cy="0"/>
          </a:xfrm>
          <a:prstGeom prst="line">
            <a:avLst/>
          </a:prstGeom>
          <a:noFill/>
          <a:ln w="12700">
            <a:solidFill>
              <a:srgbClr val="C8A9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0" cy="146304"/>
          </a:xfrm>
          <a:prstGeom prst="line">
            <a:avLst/>
          </a:prstGeom>
          <a:noFill/>
          <a:ln w="12700">
            <a:solidFill>
              <a:srgbClr val="C8A9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89359" y="256032"/>
            <a:ext cx="146304" cy="0"/>
          </a:xfrm>
          <a:prstGeom prst="line">
            <a:avLst/>
          </a:prstGeom>
          <a:noFill/>
          <a:ln w="12700">
            <a:solidFill>
              <a:srgbClr val="C8A9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35663" y="256032"/>
            <a:ext cx="0" cy="146304"/>
          </a:xfrm>
          <a:prstGeom prst="line">
            <a:avLst/>
          </a:prstGeom>
          <a:noFill/>
          <a:ln w="12700">
            <a:solidFill>
              <a:srgbClr val="C8A97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6601968"/>
            <a:ext cx="146304" cy="0"/>
          </a:xfrm>
          <a:prstGeom prst="line">
            <a:avLst/>
          </a:prstGeom>
          <a:noFill/>
          <a:ln w="12700">
            <a:solidFill>
              <a:srgbClr val="C8A9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6455664"/>
            <a:ext cx="0" cy="146304"/>
          </a:xfrm>
          <a:prstGeom prst="line">
            <a:avLst/>
          </a:prstGeom>
          <a:noFill/>
          <a:ln w="12700">
            <a:solidFill>
              <a:srgbClr val="C8A9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89359" y="6601968"/>
            <a:ext cx="146304" cy="0"/>
          </a:xfrm>
          <a:prstGeom prst="line">
            <a:avLst/>
          </a:prstGeom>
          <a:noFill/>
          <a:ln w="12700">
            <a:solidFill>
              <a:srgbClr val="C8A9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35663" y="6455664"/>
            <a:ext cx="0" cy="146304"/>
          </a:xfrm>
          <a:prstGeom prst="line">
            <a:avLst/>
          </a:prstGeom>
          <a:noFill/>
          <a:ln w="12700">
            <a:solidFill>
              <a:srgbClr val="C8A9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C8A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ATELIER INTELLIGENT</a:t>
            </a:r>
            <a:r>
              <a:rPr lang="en-US" sz="1000" kern="0" spc="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18001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694944"/>
            <a:ext cx="11094415" cy="0"/>
          </a:xfrm>
          <a:prstGeom prst="line">
            <a:avLst/>
          </a:prstGeom>
          <a:noFill/>
          <a:ln w="9525">
            <a:solidFill>
              <a:srgbClr val="5C52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914400"/>
            <a:ext cx="457200" cy="41148"/>
          </a:xfrm>
          <a:prstGeom prst="rect">
            <a:avLst/>
          </a:prstGeom>
          <a:solidFill>
            <a:srgbClr val="C8A97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042416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Engineering Over Generative Guesswork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solidFill>
            <a:srgbClr val="1E232C"/>
          </a:solidFill>
          <a:ln w="12700">
            <a:solidFill>
              <a:srgbClr val="5C523D"/>
            </a:solidFill>
            <a:prstDash val="solid"/>
          </a:ln>
        </p:spPr>
      </p:sp>
      <p:pic>
        <p:nvPicPr>
          <p:cNvPr id="16" name="Image 0" descr="/home/claude/assets/icons/bar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258568"/>
            <a:ext cx="237744" cy="23774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70432" y="2130552"/>
            <a:ext cx="56418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70432" y="2478024"/>
            <a:ext cx="56418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A0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valid bundle is scored on a weighted formula, so the highest-ranked combination is provably the best fit — not the most plausible-sounding one.</a:t>
            </a:r>
            <a:endParaRPr lang="en-US" sz="105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1170432" y="3081528"/>
          <a:ext cx="5641848" cy="1051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Shape 16"/>
          <p:cNvSpPr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solidFill>
            <a:srgbClr val="1E232C"/>
          </a:solidFill>
          <a:ln w="12700">
            <a:solidFill>
              <a:srgbClr val="5C523D"/>
            </a:solidFill>
            <a:prstDash val="solid"/>
          </a:ln>
        </p:spPr>
      </p:sp>
      <p:pic>
        <p:nvPicPr>
          <p:cNvPr id="21" name="Image 1" descr="/home/claude/assets/icons/shuff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681728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70432" y="4553712"/>
            <a:ext cx="564184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Avoidance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170432" y="4873752"/>
            <a:ext cx="56418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A0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Axis-Aligned Bounding Box logic acts as true pathfinding. If an ideal coordinate is blocked by the door swing, the engine reroutes automatically.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48640" y="5504688"/>
            <a:ext cx="6263640" cy="0"/>
          </a:xfrm>
          <a:prstGeom prst="line">
            <a:avLst/>
          </a:prstGeom>
          <a:noFill/>
          <a:ln w="9525">
            <a:solidFill>
              <a:srgbClr val="5C523D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48640" y="5669280"/>
            <a:ext cx="457200" cy="457200"/>
          </a:xfrm>
          <a:prstGeom prst="rect">
            <a:avLst/>
          </a:prstGeom>
          <a:solidFill>
            <a:srgbClr val="1E232C"/>
          </a:solidFill>
          <a:ln w="12700">
            <a:solidFill>
              <a:srgbClr val="5C523D"/>
            </a:solidFill>
            <a:prstDash val="solid"/>
          </a:ln>
        </p:spPr>
      </p:sp>
      <p:pic>
        <p:nvPicPr>
          <p:cNvPr id="26" name="Image 2" descr="/home/claude/assets/icons/wifio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5779008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170432" y="5650992"/>
            <a:ext cx="564184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Processing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170432" y="5971032"/>
            <a:ext cx="56418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A0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entirely on-device with zero API calls — highly stable and instantly deployable on showroom iPads, even offline.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7269480" y="2148840"/>
            <a:ext cx="4373575" cy="4160520"/>
          </a:xfrm>
          <a:prstGeom prst="rect">
            <a:avLst/>
          </a:prstGeom>
          <a:solidFill>
            <a:srgbClr val="181C23"/>
          </a:solidFill>
          <a:ln w="12700">
            <a:solidFill>
              <a:srgbClr val="C8A97E"/>
            </a:solidFill>
            <a:prstDash val="dash"/>
          </a:ln>
        </p:spPr>
      </p:sp>
      <p:sp>
        <p:nvSpPr>
          <p:cNvPr id="30" name="Shape 24"/>
          <p:cNvSpPr/>
          <p:nvPr/>
        </p:nvSpPr>
        <p:spPr>
          <a:xfrm>
            <a:off x="7360920" y="2240280"/>
            <a:ext cx="118872" cy="0"/>
          </a:xfrm>
          <a:prstGeom prst="line">
            <a:avLst/>
          </a:prstGeom>
          <a:noFill/>
          <a:ln w="9525">
            <a:solidFill>
              <a:srgbClr val="C8A97E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360920" y="2240280"/>
            <a:ext cx="0" cy="118872"/>
          </a:xfrm>
          <a:prstGeom prst="line">
            <a:avLst/>
          </a:prstGeom>
          <a:noFill/>
          <a:ln w="9525">
            <a:solidFill>
              <a:srgbClr val="C8A97E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11432743" y="2240280"/>
            <a:ext cx="118872" cy="0"/>
          </a:xfrm>
          <a:prstGeom prst="line">
            <a:avLst/>
          </a:prstGeom>
          <a:noFill/>
          <a:ln w="9525">
            <a:solidFill>
              <a:srgbClr val="C8A97E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11551615" y="2240280"/>
            <a:ext cx="0" cy="118872"/>
          </a:xfrm>
          <a:prstGeom prst="line">
            <a:avLst/>
          </a:prstGeom>
          <a:noFill/>
          <a:ln w="9525">
            <a:solidFill>
              <a:srgbClr val="C8A97E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7360920" y="6217920"/>
            <a:ext cx="118872" cy="0"/>
          </a:xfrm>
          <a:prstGeom prst="line">
            <a:avLst/>
          </a:prstGeom>
          <a:noFill/>
          <a:ln w="9525">
            <a:solidFill>
              <a:srgbClr val="C8A97E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7360920" y="6099048"/>
            <a:ext cx="0" cy="118872"/>
          </a:xfrm>
          <a:prstGeom prst="line">
            <a:avLst/>
          </a:prstGeom>
          <a:noFill/>
          <a:ln w="9525">
            <a:solidFill>
              <a:srgbClr val="C8A97E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11432743" y="6217920"/>
            <a:ext cx="118872" cy="0"/>
          </a:xfrm>
          <a:prstGeom prst="line">
            <a:avLst/>
          </a:prstGeom>
          <a:noFill/>
          <a:ln w="9525">
            <a:solidFill>
              <a:srgbClr val="C8A97E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11551615" y="6099048"/>
            <a:ext cx="0" cy="118872"/>
          </a:xfrm>
          <a:prstGeom prst="line">
            <a:avLst/>
          </a:prstGeom>
          <a:noFill/>
          <a:ln w="9525">
            <a:solidFill>
              <a:srgbClr val="C8A97E"/>
            </a:solidFill>
            <a:prstDash val="solid"/>
          </a:ln>
        </p:spPr>
      </p:sp>
      <p:pic>
        <p:nvPicPr>
          <p:cNvPr id="38" name="Image 3" descr="/home/claude/assets/icons/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2804" y="3726180"/>
            <a:ext cx="566928" cy="56692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726680" y="4366260"/>
            <a:ext cx="34591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kern="0" spc="50" dirty="0">
                <a:solidFill>
                  <a:srgbClr val="A0A5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Insert Screenshot 2:</a:t>
            </a:r>
            <a:endParaRPr lang="en-US" sz="10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kern="0" spc="50" dirty="0">
                <a:solidFill>
                  <a:srgbClr val="A0A5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Matplotlib 2D CAD Blueprint ]</a:t>
            </a:r>
            <a:endParaRPr lang="en-US" sz="1050" dirty="0"/>
          </a:p>
        </p:txBody>
      </p:sp>
      <p:pic>
        <p:nvPicPr>
          <p:cNvPr id="42" name="Picture 41" descr="0">
            <a:extLst>
              <a:ext uri="{FF2B5EF4-FFF2-40B4-BE49-F238E27FC236}">
                <a16:creationId xmlns:a16="http://schemas.microsoft.com/office/drawing/2014/main" id="{46BA9957-C4D0-5DB2-618F-C720C69A87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6572" y="2185416"/>
            <a:ext cx="4282135" cy="40873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46304" cy="0"/>
          </a:xfrm>
          <a:prstGeom prst="line">
            <a:avLst/>
          </a:prstGeom>
          <a:noFill/>
          <a:ln w="12700">
            <a:solidFill>
              <a:srgbClr val="C8A9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0" cy="146304"/>
          </a:xfrm>
          <a:prstGeom prst="line">
            <a:avLst/>
          </a:prstGeom>
          <a:noFill/>
          <a:ln w="12700">
            <a:solidFill>
              <a:srgbClr val="C8A9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89359" y="256032"/>
            <a:ext cx="146304" cy="0"/>
          </a:xfrm>
          <a:prstGeom prst="line">
            <a:avLst/>
          </a:prstGeom>
          <a:noFill/>
          <a:ln w="12700">
            <a:solidFill>
              <a:srgbClr val="C8A9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35663" y="256032"/>
            <a:ext cx="0" cy="146304"/>
          </a:xfrm>
          <a:prstGeom prst="line">
            <a:avLst/>
          </a:prstGeom>
          <a:noFill/>
          <a:ln w="12700">
            <a:solidFill>
              <a:srgbClr val="C8A97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6601968"/>
            <a:ext cx="146304" cy="0"/>
          </a:xfrm>
          <a:prstGeom prst="line">
            <a:avLst/>
          </a:prstGeom>
          <a:noFill/>
          <a:ln w="12700">
            <a:solidFill>
              <a:srgbClr val="C8A9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6455664"/>
            <a:ext cx="0" cy="146304"/>
          </a:xfrm>
          <a:prstGeom prst="line">
            <a:avLst/>
          </a:prstGeom>
          <a:noFill/>
          <a:ln w="12700">
            <a:solidFill>
              <a:srgbClr val="C8A9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89359" y="6601968"/>
            <a:ext cx="146304" cy="0"/>
          </a:xfrm>
          <a:prstGeom prst="line">
            <a:avLst/>
          </a:prstGeom>
          <a:noFill/>
          <a:ln w="12700">
            <a:solidFill>
              <a:srgbClr val="C8A9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35663" y="6455664"/>
            <a:ext cx="0" cy="146304"/>
          </a:xfrm>
          <a:prstGeom prst="line">
            <a:avLst/>
          </a:prstGeom>
          <a:noFill/>
          <a:ln w="12700">
            <a:solidFill>
              <a:srgbClr val="C8A9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C8A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ATELIER INTELLIGENT</a:t>
            </a:r>
            <a:r>
              <a:rPr lang="en-US" sz="1000" kern="0" spc="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18001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694944"/>
            <a:ext cx="11094415" cy="0"/>
          </a:xfrm>
          <a:prstGeom prst="line">
            <a:avLst/>
          </a:prstGeom>
          <a:noFill/>
          <a:ln w="9525">
            <a:solidFill>
              <a:srgbClr val="5C52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914400"/>
            <a:ext cx="457200" cy="41148"/>
          </a:xfrm>
          <a:prstGeom prst="rect">
            <a:avLst/>
          </a:prstGeom>
          <a:solidFill>
            <a:srgbClr val="C8A97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042416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Share Optimization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548640" y="2057400"/>
            <a:ext cx="457200" cy="457200"/>
          </a:xfrm>
          <a:prstGeom prst="rect">
            <a:avLst/>
          </a:prstGeom>
          <a:solidFill>
            <a:srgbClr val="1E232C"/>
          </a:solidFill>
          <a:ln w="12700">
            <a:solidFill>
              <a:srgbClr val="5C523D"/>
            </a:solidFill>
            <a:prstDash val="solid"/>
          </a:ln>
        </p:spPr>
      </p:sp>
      <p:pic>
        <p:nvPicPr>
          <p:cNvPr id="16" name="Image 0" descr="/home/claude/assets/icons/ey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67128"/>
            <a:ext cx="237744" cy="23774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70432" y="2029968"/>
            <a:ext cx="56418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C8A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01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70432" y="2231136"/>
            <a:ext cx="564184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Budget Masking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170432" y="2560320"/>
            <a:ext cx="56418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A0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 hides the remaining budget during base selection, keeping focus on core plumbing fixtures instead of the price tag.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3282696"/>
            <a:ext cx="6263640" cy="0"/>
          </a:xfrm>
          <a:prstGeom prst="line">
            <a:avLst/>
          </a:prstGeom>
          <a:noFill/>
          <a:ln w="9525">
            <a:solidFill>
              <a:srgbClr val="5C523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8640" y="3410712"/>
            <a:ext cx="457200" cy="457200"/>
          </a:xfrm>
          <a:prstGeom prst="rect">
            <a:avLst/>
          </a:prstGeom>
          <a:solidFill>
            <a:srgbClr val="1E232C"/>
          </a:solidFill>
          <a:ln w="12700">
            <a:solidFill>
              <a:srgbClr val="5C523D"/>
            </a:solidFill>
            <a:prstDash val="solid"/>
          </a:ln>
        </p:spPr>
      </p:sp>
      <p:pic>
        <p:nvPicPr>
          <p:cNvPr id="22" name="Image 1" descr="/home/claude/assets/icons/trending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520440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70432" y="3383280"/>
            <a:ext cx="56418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C8A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02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1170432" y="3584448"/>
            <a:ext cx="564184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Upselling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1170432" y="3913632"/>
            <a:ext cx="56418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A0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the base is set, the engine calculates the exact remaining financial envelope and triggers the “Complete the Suite” module.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548640" y="4636008"/>
            <a:ext cx="6263640" cy="0"/>
          </a:xfrm>
          <a:prstGeom prst="line">
            <a:avLst/>
          </a:prstGeom>
          <a:noFill/>
          <a:ln w="9525">
            <a:solidFill>
              <a:srgbClr val="5C523D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48640" y="4764024"/>
            <a:ext cx="457200" cy="457200"/>
          </a:xfrm>
          <a:prstGeom prst="rect">
            <a:avLst/>
          </a:prstGeom>
          <a:solidFill>
            <a:srgbClr val="1E232C"/>
          </a:solidFill>
          <a:ln w="12700">
            <a:solidFill>
              <a:srgbClr val="5C523D"/>
            </a:solidFill>
            <a:prstDash val="solid"/>
          </a:ln>
        </p:spPr>
      </p:sp>
      <p:pic>
        <p:nvPicPr>
          <p:cNvPr id="28" name="Image 2" descr="/home/claude/assets/icons/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873752"/>
            <a:ext cx="237744" cy="23774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170432" y="4736592"/>
            <a:ext cx="56418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C8A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03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1170432" y="4937760"/>
            <a:ext cx="564184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Conversions</a:t>
            </a:r>
            <a:endParaRPr lang="en-US" sz="1350" dirty="0"/>
          </a:p>
        </p:txBody>
      </p:sp>
      <p:sp>
        <p:nvSpPr>
          <p:cNvPr id="31" name="Text 26"/>
          <p:cNvSpPr/>
          <p:nvPr/>
        </p:nvSpPr>
        <p:spPr>
          <a:xfrm>
            <a:off x="1170432" y="5266944"/>
            <a:ext cx="56418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A0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premium accessories — towel warmers, smart mirrors — that mathematically fit the remaining budget are surfaced, acting as a digital sales associate without inducing sticker shock.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7269480" y="2057400"/>
            <a:ext cx="4373575" cy="4069080"/>
          </a:xfrm>
          <a:prstGeom prst="rect">
            <a:avLst/>
          </a:prstGeom>
          <a:solidFill>
            <a:srgbClr val="181C23"/>
          </a:solidFill>
          <a:ln w="12700">
            <a:solidFill>
              <a:srgbClr val="C8A97E"/>
            </a:solidFill>
            <a:prstDash val="dash"/>
          </a:ln>
        </p:spPr>
      </p:sp>
      <p:sp>
        <p:nvSpPr>
          <p:cNvPr id="33" name="Shape 28"/>
          <p:cNvSpPr/>
          <p:nvPr/>
        </p:nvSpPr>
        <p:spPr>
          <a:xfrm>
            <a:off x="7360920" y="2148840"/>
            <a:ext cx="118872" cy="0"/>
          </a:xfrm>
          <a:prstGeom prst="line">
            <a:avLst/>
          </a:prstGeom>
          <a:noFill/>
          <a:ln w="9525">
            <a:solidFill>
              <a:srgbClr val="C8A97E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7360920" y="2148840"/>
            <a:ext cx="0" cy="118872"/>
          </a:xfrm>
          <a:prstGeom prst="line">
            <a:avLst/>
          </a:prstGeom>
          <a:noFill/>
          <a:ln w="9525">
            <a:solidFill>
              <a:srgbClr val="C8A97E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11432743" y="2148840"/>
            <a:ext cx="118872" cy="0"/>
          </a:xfrm>
          <a:prstGeom prst="line">
            <a:avLst/>
          </a:prstGeom>
          <a:noFill/>
          <a:ln w="9525">
            <a:solidFill>
              <a:srgbClr val="C8A97E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11551615" y="2148840"/>
            <a:ext cx="0" cy="118872"/>
          </a:xfrm>
          <a:prstGeom prst="line">
            <a:avLst/>
          </a:prstGeom>
          <a:noFill/>
          <a:ln w="9525">
            <a:solidFill>
              <a:srgbClr val="C8A97E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7360920" y="6035040"/>
            <a:ext cx="118872" cy="0"/>
          </a:xfrm>
          <a:prstGeom prst="line">
            <a:avLst/>
          </a:prstGeom>
          <a:noFill/>
          <a:ln w="9525">
            <a:solidFill>
              <a:srgbClr val="C8A97E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7360920" y="5916168"/>
            <a:ext cx="0" cy="118872"/>
          </a:xfrm>
          <a:prstGeom prst="line">
            <a:avLst/>
          </a:prstGeom>
          <a:noFill/>
          <a:ln w="9525">
            <a:solidFill>
              <a:srgbClr val="C8A97E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11432743" y="6035040"/>
            <a:ext cx="118872" cy="0"/>
          </a:xfrm>
          <a:prstGeom prst="line">
            <a:avLst/>
          </a:prstGeom>
          <a:noFill/>
          <a:ln w="9525">
            <a:solidFill>
              <a:srgbClr val="C8A97E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11551615" y="5916168"/>
            <a:ext cx="0" cy="118872"/>
          </a:xfrm>
          <a:prstGeom prst="line">
            <a:avLst/>
          </a:prstGeom>
          <a:noFill/>
          <a:ln w="9525">
            <a:solidFill>
              <a:srgbClr val="C8A97E"/>
            </a:solidFill>
            <a:prstDash val="solid"/>
          </a:ln>
        </p:spPr>
      </p:sp>
      <p:pic>
        <p:nvPicPr>
          <p:cNvPr id="41" name="Image 3" descr="/home/claude/assets/icons/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2804" y="3589020"/>
            <a:ext cx="566928" cy="566928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7726680" y="4229100"/>
            <a:ext cx="34591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kern="0" spc="50" dirty="0">
                <a:solidFill>
                  <a:srgbClr val="A0A5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Insert Screenshot 3:</a:t>
            </a:r>
            <a:endParaRPr lang="en-US" sz="10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kern="0" spc="50" dirty="0">
                <a:solidFill>
                  <a:srgbClr val="A0A5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 Accessory Checkout UI ]</a:t>
            </a:r>
            <a:endParaRPr lang="en-US" sz="105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FE7D837C-DF21-51DC-390A-2250F418A4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199" y="2088386"/>
            <a:ext cx="4282135" cy="39557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360</Words>
  <Application>Microsoft Office PowerPoint</Application>
  <PresentationFormat>Widescreen</PresentationFormat>
  <Paragraphs>54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Daksh Keswani</cp:lastModifiedBy>
  <cp:revision>2</cp:revision>
  <dcterms:created xsi:type="dcterms:W3CDTF">2026-09-20T14:26:07Z</dcterms:created>
  <dcterms:modified xsi:type="dcterms:W3CDTF">2026-09-20T16:57:38Z</dcterms:modified>
</cp:coreProperties>
</file>